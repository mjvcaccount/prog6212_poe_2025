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9" r:id="rId4"/>
  </p:sldMasterIdLst>
  <p:notesMasterIdLst>
    <p:notesMasterId r:id="rId25"/>
  </p:notesMasterIdLst>
  <p:handoutMasterIdLst>
    <p:handoutMasterId r:id="rId26"/>
  </p:handoutMasterIdLst>
  <p:sldIdLst>
    <p:sldId id="334" r:id="rId5"/>
    <p:sldId id="316" r:id="rId6"/>
    <p:sldId id="357" r:id="rId7"/>
    <p:sldId id="358" r:id="rId8"/>
    <p:sldId id="350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5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93BAE7-B30D-40D1-8433-3CC0DD30B53D}">
          <p14:sldIdLst>
            <p14:sldId id="334"/>
            <p14:sldId id="316"/>
          </p14:sldIdLst>
        </p14:section>
        <p14:section name="Feedback and Solution" id="{7B40224C-D68C-41F6-92A8-17128CA39F5E}">
          <p14:sldIdLst>
            <p14:sldId id="357"/>
            <p14:sldId id="358"/>
            <p14:sldId id="350"/>
            <p14:sldId id="359"/>
          </p14:sldIdLst>
        </p14:section>
        <p14:section name="Part 3 Architecture" id="{28BEBD53-9D82-44C1-A19B-324AF75CA251}">
          <p14:sldIdLst>
            <p14:sldId id="360"/>
            <p14:sldId id="361"/>
            <p14:sldId id="362"/>
          </p14:sldIdLst>
        </p14:section>
        <p14:section name="Feature Deep Dive &amp; Code" id="{04E2F467-786F-4076-8C7C-1A5A0BC7F3E8}">
          <p14:sldIdLst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2EDD-4413-BD1C-F7B6-E9D3E647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49237-906A-2135-3B5E-CC336D505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7E6E9-150D-18AA-A044-450B189E0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F4B11-D40B-59FC-445B-A1B12B2E5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362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2EE3-B98F-58F3-C307-9C3DAB67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D9627-3815-7CCB-90C8-77ED4CAE3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71C05-12DD-194E-1D2C-9CEE50F8F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2ABCC-A4CA-7116-97AF-B0F1BAFEC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004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444CE-A479-A382-54BF-D381242A3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40EB6-5728-EE77-F57E-96F49E9E5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2148F-A704-1EA8-B4FC-0AE164D4C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1B6AA-02E9-E433-307B-85AD73F8B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78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48ACA-8E93-575A-8DF5-04B36066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BBDFB-C217-32B7-4875-620FAEF5F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9AC9A-D656-CE6F-57F2-C529B917D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30A15-F8FA-686D-C815-8D3AE4377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93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75B6-C96B-1A1B-041A-BF42CCF9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C7DE6-478A-2DFA-899E-0E2DEA039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0A350-EC34-0E21-153E-AFAD8E834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F0DF-1294-6D5F-083A-9253D9D09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442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85D41-5DBE-30A8-58F6-7BD9D576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4C5D2-37FA-188E-53FE-69048FFA4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BDDED-8B87-BC71-ABEE-66C943E89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EDE76-186F-3823-ED1D-573B0381F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71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4EA1-E04E-C252-096E-4ACE7BD2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242E3-7D61-CBA9-68FA-A99B125F2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88677-294A-62AA-7D5C-5100891BC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DF409-9FAB-6882-0F81-CA7F5BE1D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7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BB548-AE1B-7064-C285-BEB584D6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7462C-11FD-ABA4-4AF4-F04178942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CC5C9-CC93-D088-0DA9-44CE4410D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22C96-4417-EAB9-E77C-00EE7B964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633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0324A-AE0F-234D-F3DD-BA6B7EA55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F1AB4-7B2F-1874-8DF8-F0CFEA2CD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D3BB2-218E-DF31-431B-37870C711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D1D55-4707-45F6-A94E-53F5C0785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87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5551-C09A-30A6-E865-079BEF74B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6EFBB-E0D2-EC5E-866C-F5CF2A349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7D71F-F40B-1FAA-FD46-B4B7F35C4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FB3A7-3484-E52E-F672-99FD82B0C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787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7E3B9-515C-3DE2-4B8D-C5DBCD7C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AFA06-E3D9-ABD7-22B7-D656D051A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31191-694D-71D6-EA98-3875F589C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CEC7D-9FE7-FA82-973B-F4B8EDB79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654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5852-13A2-DA0F-7CC9-0DCE8105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243E1-67C8-2BD7-520B-6F8DFD845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0F31D-FECE-F669-9F2E-97DD50BF8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A3CE3-1E25-45F4-A01C-F5C76D89D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979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A11E2-206F-59B9-BEBD-81604DAD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68BCF-42B1-5BBE-1A56-4F3EC1AAC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2C485-A4DA-DC37-9C0A-59053C249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6B3FA-DCD8-EA1B-2A8C-34A76349D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551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4564-04B7-6969-2A30-1AE48671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86F6F-E26F-FF6E-04A7-DBCE609FD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CE11D-7FA9-041F-1045-B8DC659C3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21853-DFFB-8F33-03CB-C7212C1DB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51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5827-B474-2FF7-CABF-FCC505C4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61564-4C51-9289-5712-ABD40256A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AA032-76C4-6854-580C-E00D7C8E0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D6F0F-CA72-9830-261D-CFF839F8D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03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98D9-8BDB-3E3F-CD24-54B2C553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2BD4A-4AA5-1108-3303-F9B471369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BB889-9B9C-C2EC-0448-6E439EB8B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570A2-FFA5-0B83-8D34-387E85818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746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811D-FAC8-0B38-1E28-04BE03D9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4EB0D-8F7F-7D7B-EC1D-F73B42C34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51883-3180-293C-0EB5-4DA92F186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DB7DC-E109-968F-C3D9-CF9E1942F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28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29B0-A100-91FB-9A65-0BE04DF3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6157E-9DE2-B279-6FB2-5AABA037F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EC77A-767E-2B85-8684-22E281003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E43A0-4131-8FF7-85C5-53FAC064D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77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24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649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39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06310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883777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0D90EF-497D-02FA-853D-EE4EFBEC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5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1994CE-7978-B9CC-7C50-C33A4615B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72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018025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850688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197436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888627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84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708" r:id="rId12"/>
    <p:sldLayoutId id="2147483717" r:id="rId13"/>
    <p:sldLayoutId id="2147483728" r:id="rId14"/>
    <p:sldLayoutId id="2147483729" r:id="rId15"/>
    <p:sldLayoutId id="2147483710" r:id="rId16"/>
    <p:sldLayoutId id="2147483701" r:id="rId17"/>
    <p:sldLayoutId id="2147483721" r:id="rId18"/>
    <p:sldLayoutId id="2147483720" r:id="rId19"/>
    <p:sldLayoutId id="2147483730" r:id="rId20"/>
    <p:sldLayoutId id="2147483722" r:id="rId21"/>
    <p:sldLayoutId id="2147483732" r:id="rId22"/>
  </p:sldLayoutIdLst>
  <p:hf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5" y="1114840"/>
            <a:ext cx="10302240" cy="1852046"/>
          </a:xfrm>
        </p:spPr>
        <p:txBody>
          <a:bodyPr/>
          <a:lstStyle/>
          <a:p>
            <a:r>
              <a:rPr lang="en-US" dirty="0"/>
              <a:t>Contract Monthly Claim System (CMCS)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64784-8344-24CC-EFB0-26E03C63D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Portfolio of Evidence – Part 3 Automation &amp; Enhancement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A970B-C185-CED3-4F1B-5F348EEA41D9}"/>
              </a:ext>
            </a:extLst>
          </p:cNvPr>
          <p:cNvSpPr txBox="1"/>
          <p:nvPr/>
        </p:nvSpPr>
        <p:spPr>
          <a:xfrm>
            <a:off x="0" y="5995358"/>
            <a:ext cx="282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Michael Jani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4524E6-9FCE-CF2D-BB48-46109DF78140}"/>
              </a:ext>
            </a:extLst>
          </p:cNvPr>
          <p:cNvSpPr txBox="1"/>
          <p:nvPr/>
        </p:nvSpPr>
        <p:spPr>
          <a:xfrm>
            <a:off x="0" y="6364690"/>
            <a:ext cx="282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ST10451592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FB37B-F2B0-3F83-5402-FE0C3E3EC1CF}"/>
              </a:ext>
            </a:extLst>
          </p:cNvPr>
          <p:cNvSpPr txBox="1"/>
          <p:nvPr/>
        </p:nvSpPr>
        <p:spPr>
          <a:xfrm>
            <a:off x="10515600" y="6180024"/>
            <a:ext cx="177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96" y="600524"/>
            <a:ext cx="10063575" cy="693409"/>
          </a:xfrm>
        </p:spPr>
        <p:txBody>
          <a:bodyPr>
            <a:normAutofit fontScale="90000"/>
          </a:bodyPr>
          <a:lstStyle/>
          <a:p>
            <a:r>
              <a:rPr lang="en-US" dirty="0"/>
              <a:t>Presentation Agenda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8485311" y="0"/>
            <a:ext cx="3706689" cy="3706689"/>
          </a:xfr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07165DDD-6D33-0041-390A-CB249195F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81" y="1293933"/>
            <a:ext cx="7358333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Evolution: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Journey from Part 1 to Part 3.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Addressing Part 2 improvements.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Architecture: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Technical stack and design choices.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3 Implementation: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Automation, Security, and Database.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Walkthrough: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logic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project summary.</a:t>
            </a:r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6CB1D-F437-64A4-FE9E-BC3DB80D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EF90-FFDF-DC8B-9AB7-03F7E8AD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984" y="203738"/>
            <a:ext cx="9822036" cy="974488"/>
          </a:xfrm>
        </p:spPr>
        <p:txBody>
          <a:bodyPr>
            <a:normAutofit fontScale="90000"/>
          </a:bodyPr>
          <a:lstStyle/>
          <a:p>
            <a:r>
              <a:rPr lang="en-US" sz="3800" dirty="0"/>
              <a:t>Response to Feedback – Version Control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370F8FD-0537-DE34-CB75-A15980159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606677" y="0"/>
            <a:ext cx="2585323" cy="2585323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4405CA4-C1F8-3070-AB5E-1A6FAAA0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19" y="1355054"/>
            <a:ext cx="88820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Lecturer Feedback: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"Commits were infrequent (7 total) or lacked clarity."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Improvement Strategy: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 Commits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Small, focused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Messages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prefixes like </a:t>
            </a:r>
            <a:r>
              <a:rPr lang="en-US" altLang="en-US" i="1" dirty="0">
                <a:latin typeface="Arial" panose="020B0604020202020204" pitchFamily="34" charset="0"/>
              </a:rPr>
              <a:t>Feat:, Fix:, Docs:.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Increased to 10+ commits for Part 3 development.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878C18-347E-51EC-C57A-21A31B902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802" y="2832382"/>
            <a:ext cx="7303198" cy="36450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BEDF16-8436-2B53-21BC-000A45B1DEE2}"/>
              </a:ext>
            </a:extLst>
          </p:cNvPr>
          <p:cNvSpPr txBox="1"/>
          <p:nvPr/>
        </p:nvSpPr>
        <p:spPr>
          <a:xfrm>
            <a:off x="785003" y="5477774"/>
            <a:ext cx="4103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I moved from large, vague commits to a granular history that tracks the exact development lifecycle.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54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9BCA1-AC4B-16FB-44DC-A5A608B4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5BDE-40EF-C4DF-D1A4-AB3B469A0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880" y="238244"/>
            <a:ext cx="7665431" cy="97448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Response to Feedback – Robustness</a:t>
            </a:r>
            <a:endParaRPr lang="en-US" sz="3800" dirty="0"/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43F8C0A4-76B9-D246-1F1A-C6F0ED501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463177" y="0"/>
            <a:ext cx="2728823" cy="2728823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C7C1179-AF92-3D5B-D7E3-005C93E3B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246" y="1536174"/>
            <a:ext cx="872993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Lecturer Feedback: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"Error handling needs to be robust; Unit testing must cover critical paths."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Improvement Strategy: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Server-Side 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Moved logic from UI to C# Services to prevent tampering.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Redirects: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</a:t>
            </a:r>
            <a:r>
              <a:rPr lang="en-US" altLang="en-US" i="1" dirty="0">
                <a:latin typeface="Arial" panose="020B0604020202020204" pitchFamily="34" charset="0"/>
              </a:rPr>
              <a:t>[HttpGet] </a:t>
            </a:r>
            <a:r>
              <a:rPr lang="en-US" altLang="en-US" dirty="0">
                <a:latin typeface="Arial" panose="020B0604020202020204" pitchFamily="34" charset="0"/>
              </a:rPr>
              <a:t>redirects to prevent HTTP 405 crashes.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Loops: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Added </a:t>
            </a:r>
            <a:r>
              <a:rPr lang="en-US" altLang="en-US" i="1" dirty="0">
                <a:latin typeface="Arial" panose="020B0604020202020204" pitchFamily="34" charset="0"/>
              </a:rPr>
              <a:t>TempData</a:t>
            </a:r>
            <a:r>
              <a:rPr lang="en-US" altLang="en-US" dirty="0">
                <a:latin typeface="Arial" panose="020B0604020202020204" pitchFamily="34" charset="0"/>
              </a:rPr>
              <a:t> alerts for immediate user feedback.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2BEC5-4E7A-9BA3-B46F-0A9CD22A4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502" y="3290500"/>
            <a:ext cx="10656498" cy="235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5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7BEAB-6C77-4821-C581-1D9E7BFAF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1DF8-BE30-D0EF-5582-D016BFD1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03" y="375732"/>
            <a:ext cx="10087699" cy="569056"/>
          </a:xfrm>
        </p:spPr>
        <p:txBody>
          <a:bodyPr>
            <a:normAutofit fontScale="90000"/>
          </a:bodyPr>
          <a:lstStyle/>
          <a:p>
            <a:r>
              <a:rPr lang="en-US" dirty="0"/>
              <a:t>Part 1 recap – Planning &amp; design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F5D34FC4-3749-F62C-24B8-74F95584D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360FE8B-BD5A-9E16-2022-1D7DBE06D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403" y="1597519"/>
            <a:ext cx="1240766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Analysis &amp; Prototyping.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Deliverables: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 Class Diagrams: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Defining </a:t>
            </a:r>
            <a:r>
              <a:rPr lang="en-US" altLang="en-US" i="1" dirty="0">
                <a:latin typeface="Arial" panose="020B0604020202020204" pitchFamily="34" charset="0"/>
              </a:rPr>
              <a:t>Lecturer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Claim</a:t>
            </a:r>
            <a:r>
              <a:rPr lang="en-US" altLang="en-US" dirty="0">
                <a:latin typeface="Arial" panose="020B0604020202020204" pitchFamily="34" charset="0"/>
              </a:rPr>
              <a:t>, and </a:t>
            </a:r>
            <a:r>
              <a:rPr lang="en-US" altLang="en-US" i="1" dirty="0">
                <a:latin typeface="Arial" panose="020B0604020202020204" pitchFamily="34" charset="0"/>
              </a:rPr>
              <a:t>Coordinator</a:t>
            </a:r>
            <a:r>
              <a:rPr lang="en-US" altLang="en-US" dirty="0">
                <a:latin typeface="Arial" panose="020B0604020202020204" pitchFamily="34" charset="0"/>
              </a:rPr>
              <a:t> relationships.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Prototype: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Initial WPF/Console sketches.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Plan: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Timeline estimation.</a:t>
            </a:r>
          </a:p>
        </p:txBody>
      </p:sp>
    </p:spTree>
    <p:extLst>
      <p:ext uri="{BB962C8B-B14F-4D97-AF65-F5344CB8AC3E}">
        <p14:creationId xmlns:p14="http://schemas.microsoft.com/office/powerpoint/2010/main" val="217006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903D5-F3E5-526B-203C-B7C03FAE4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A0CA-B99B-173F-DA92-3CAA3A7C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03" y="375732"/>
            <a:ext cx="10087699" cy="569056"/>
          </a:xfrm>
        </p:spPr>
        <p:txBody>
          <a:bodyPr>
            <a:normAutofit fontScale="90000"/>
          </a:bodyPr>
          <a:lstStyle/>
          <a:p>
            <a:r>
              <a:rPr lang="en-US" dirty="0"/>
              <a:t>Part 2 recap – Web </a:t>
            </a:r>
            <a:r>
              <a:rPr lang="en-US" dirty="0" err="1"/>
              <a:t>mvp</a:t>
            </a:r>
            <a:endParaRPr lang="en-US" dirty="0"/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CCF7924A-A643-154E-1DAA-B668AEE70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8911087" y="0"/>
            <a:ext cx="3280913" cy="3280913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8F1D0A2-ED14-356A-AB85-5DD4960A2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3" y="1320520"/>
            <a:ext cx="1237315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Basic MVC Web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Uploads (Supporting Documents).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Claim Submission Form.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Coordinator Approval 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was stored in-memory (Lists), meaning it reset on restart.</a:t>
            </a:r>
          </a:p>
        </p:txBody>
      </p:sp>
    </p:spTree>
    <p:extLst>
      <p:ext uri="{BB962C8B-B14F-4D97-AF65-F5344CB8AC3E}">
        <p14:creationId xmlns:p14="http://schemas.microsoft.com/office/powerpoint/2010/main" val="49284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0B4E6-69BF-B7FC-B2E3-AD3BA00A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7612-A909-7B6A-BE49-C21AE6CFC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10087699" cy="1221787"/>
          </a:xfrm>
        </p:spPr>
        <p:txBody>
          <a:bodyPr/>
          <a:lstStyle/>
          <a:p>
            <a:r>
              <a:rPr lang="en-US" dirty="0"/>
              <a:t>Part 3 Overview – Full-Stack Automation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8E7C18E9-B839-FBB1-F70B-B0E9BB694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CD9F590-A0D1-9E08-C0C4-5E9DEBC8E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63" y="1462177"/>
            <a:ext cx="12316786" cy="2355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 the prototype into a production-ready, secure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Upgrades: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Server + Entity Framework Core.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Role-Based Access Control (RBAC) &amp; Encryption.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Auto-calculation of claim totals.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UX: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 "Glassmorphism"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548846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05E2-E329-A485-A547-0BCFCC3F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BEB3-D69A-4A2D-0F33-5C3EB37D0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10087699" cy="1221787"/>
          </a:xfrm>
        </p:spPr>
        <p:txBody>
          <a:bodyPr/>
          <a:lstStyle/>
          <a:p>
            <a:r>
              <a:rPr lang="en-US" dirty="0"/>
              <a:t>Technical Stack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DDAD08CE-DE64-93BB-A167-F0BDA4941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0B58BC8-7E4E-1ECC-6F26-04C69768D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43" y="1331188"/>
            <a:ext cx="8588002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ASP.NET Core 8.0 (MVC)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Microsoft SQL Server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Entity Framework Core (Code-First Approach)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BCrypt Hashing, Session Management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Bootstrap 5 + Custom CSS Variables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[Logos of .NET, SQL Server, Bootstrap, and C#]</a:t>
            </a:r>
          </a:p>
        </p:txBody>
      </p:sp>
    </p:spTree>
    <p:extLst>
      <p:ext uri="{BB962C8B-B14F-4D97-AF65-F5344CB8AC3E}">
        <p14:creationId xmlns:p14="http://schemas.microsoft.com/office/powerpoint/2010/main" val="375222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9AB9B-2CD0-BBE1-C534-56CEB23C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3E97-3850-FF79-8F77-51CA1AC82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10087699" cy="1221787"/>
          </a:xfrm>
        </p:spPr>
        <p:txBody>
          <a:bodyPr/>
          <a:lstStyle/>
          <a:p>
            <a:r>
              <a:rPr lang="en-US" dirty="0"/>
              <a:t>Database Design (Code-First)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53DD231F-BD68-69DB-3215-2A661016E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DD810AA-04D8-3270-3BCE-58F4FFF59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440589"/>
            <a:ext cx="12624327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Defined C# Models first, then generated the schema.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Created: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latin typeface="Arial" panose="020B0604020202020204" pitchFamily="34" charset="0"/>
              </a:rPr>
              <a:t>Lecturers</a:t>
            </a:r>
            <a:r>
              <a:rPr lang="en-US" altLang="en-US" dirty="0">
                <a:latin typeface="Arial" panose="020B0604020202020204" pitchFamily="34" charset="0"/>
              </a:rPr>
              <a:t>: Users, Roles, and Hourly Rates.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latin typeface="Arial" panose="020B0604020202020204" pitchFamily="34" charset="0"/>
              </a:rPr>
              <a:t>Claims: </a:t>
            </a:r>
            <a:r>
              <a:rPr lang="en-US" altLang="en-US" dirty="0">
                <a:latin typeface="Arial" panose="020B0604020202020204" pitchFamily="34" charset="0"/>
              </a:rPr>
              <a:t>Transaction data linked to Lecturers.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latin typeface="Arial" panose="020B0604020202020204" pitchFamily="34" charset="0"/>
              </a:rPr>
              <a:t>SupportingDocuments: </a:t>
            </a:r>
            <a:r>
              <a:rPr lang="en-US" altLang="en-US" dirty="0">
                <a:latin typeface="Arial" panose="020B0604020202020204" pitchFamily="34" charset="0"/>
              </a:rPr>
              <a:t>Encrypted file metadata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88A9E-1AD3-5F74-2E48-9C3DD7A98152}"/>
              </a:ext>
            </a:extLst>
          </p:cNvPr>
          <p:cNvSpPr txBox="1"/>
          <p:nvPr/>
        </p:nvSpPr>
        <p:spPr>
          <a:xfrm>
            <a:off x="757280" y="5570468"/>
            <a:ext cx="6920229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Using Code-First allowed me to keep my application logic and database schema perfectly synced without writing manual SQL scripts.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F5B690-7D5B-2C2B-1AE1-7E2F689AF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909" y="1956337"/>
            <a:ext cx="3600091" cy="490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2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4595-0D51-BA16-E2BC-87688B0A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109DA-A961-EBD6-1A0F-3684DAF84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10087699" cy="1221787"/>
          </a:xfrm>
        </p:spPr>
        <p:txBody>
          <a:bodyPr/>
          <a:lstStyle/>
          <a:p>
            <a:r>
              <a:rPr lang="en-US" dirty="0"/>
              <a:t>Feature 1 – HR "Super User" Role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040970E6-F504-32E5-A4EE-AB10FC52C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AC06CE2-D02B-0BF6-DCD5-9827490E5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557630"/>
            <a:ext cx="97716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"HR adds all users... No register button."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registration removed to prevent unauthorized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 Dashboard allows onboarding of Lecturers, Coordinators, and Managers.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 sets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Hourly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locking it from lecturer editing.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330189-577F-A8D9-6140-F8D00DCA6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497" y="3033757"/>
            <a:ext cx="7266503" cy="382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69817-D284-40C5-E2BA-AA262E39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6F41-EEDA-92C6-C60A-575E8348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Code Spotlight – Secure Onboarding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EAE1D1F-95FD-86BF-92CC-8CD52046F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E0BE1EA-C41A-543D-DE4F-64F7A67D6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389107"/>
            <a:ext cx="123961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HRController.cs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AddLecturer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Validates unique 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Hashes default password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Sets </a:t>
            </a:r>
            <a:r>
              <a:rPr lang="en-US" altLang="en-US" dirty="0" err="1">
                <a:latin typeface="Arial" panose="020B0604020202020204" pitchFamily="34" charset="0"/>
              </a:rPr>
              <a:t>IsActive</a:t>
            </a:r>
            <a:r>
              <a:rPr lang="en-US" altLang="en-US" dirty="0">
                <a:latin typeface="Arial" panose="020B0604020202020204" pitchFamily="34" charset="0"/>
              </a:rPr>
              <a:t> to true.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2AA25D-7730-AB04-9411-444D0F0F7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80" y="3204676"/>
            <a:ext cx="9754961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07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C553A-DB67-A90E-C1D4-C9275FC6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E785-F060-DAF2-55DB-821D62E8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Feature 2 – Centralized Rate Automation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9506D099-C507-71A6-B1A4-6FB066048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49A468B-2603-1F93-8BE0-CF8073F91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469687"/>
            <a:ext cx="124594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"Lecturer should not manually input rate anymore."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Lecturer logs 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retrieves their specific rate from the 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 is displayed as "Read-Only" on the claim form.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21AC91-7785-8AB6-DDFB-ADEEC9202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347" y="2970061"/>
            <a:ext cx="8721305" cy="388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4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9C03-E46B-3E4F-2610-D05A11AE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F4A3-8F6C-9205-C063-0661C5DA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Feature 3 – Automated Calculations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595E4CBB-5C90-E467-D64E-B56B6452C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E255937-1B7A-07B9-8405-AD29253E2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376894"/>
            <a:ext cx="124127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"Auto-calculation... input hours worked... show with pulled hourly rate."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JavaScript updates the "Total" field instantly as you type.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ClaimAutomationService recalculates Hours * Rate before saving.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Note: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 calculation prevents HTML manipulation attacks.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7C1576-3470-74EC-DD4F-E6D70014E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416" y="4003779"/>
            <a:ext cx="7297168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76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F60D-44E7-A40B-11BC-9DF86B80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C28F-4F2E-91C8-3265-53FDED5E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Code Spotlight – Automation Logic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A2B0A585-010C-F398-6CA5-5EADF6406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8FA4FA-88A3-39A1-8886-4EE7BF76F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463" y="5243309"/>
            <a:ext cx="7430537" cy="123842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7312388-ED07-4B9D-C29B-1D4D61BB3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331188"/>
            <a:ext cx="861388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Automation: Server-Side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Accuracy and Security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Part 2, calculations were client-side (JavaScript). In Part 3, this logic was moved to the server to prevent tampering.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Takeaways (Bullet points on slide):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Logic: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One source of truth for all math.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Prevents "HTML Inspection" attacks where users change the total.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decimal rounding consistently.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68464-0EDC-DF31-7CE3-79DC12C05E4E}"/>
              </a:ext>
            </a:extLst>
          </p:cNvPr>
          <p:cNvSpPr txBox="1"/>
          <p:nvPr/>
        </p:nvSpPr>
        <p:spPr>
          <a:xfrm>
            <a:off x="757280" y="4549676"/>
            <a:ext cx="40041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This specific method represents the core of the automation requirement. By moving this math to the server, we ensure that even if a malicious user modifies the HTML to say 'Pay me 1 Million Rand', the server recalculates the true value based on their strict hourly rate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1033514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91A4-820A-58AE-C74C-1ADD6453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2A7F-639D-153C-5974-8095CDCB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Feature 4 – Business Rule Validation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DD777EE5-2B55-F4FF-E582-551C1AF16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C33D473-8F37-B98A-C064-8FFF4F980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462177"/>
            <a:ext cx="121057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"Validation... if an hourly rate exceeds... 180 hours."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Claims &gt; 180 hours are rejected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Claims with invalid file types (.exe, .bat) are blocked.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CC15FD-A865-312D-1C20-D0143CA73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653" y="3191775"/>
            <a:ext cx="8307347" cy="366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31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56E1F-5EC0-46D8-9C72-A92592F4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4651-5638-42C3-560E-C3211E1C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Code Spotlight – Validation Service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619493A1-20D9-EC64-172F-428797BF9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B9C67DD-C690-ADA1-052A-43B3B6EDE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440589"/>
            <a:ext cx="123213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/>
              <a:t>ClaimAutomationService.cs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err="1"/>
              <a:t>ValidateClaimAsync</a:t>
            </a: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81E6B-A252-BBDB-F208-268EB65BFCB8}"/>
              </a:ext>
            </a:extLst>
          </p:cNvPr>
          <p:cNvSpPr txBox="1"/>
          <p:nvPr/>
        </p:nvSpPr>
        <p:spPr>
          <a:xfrm>
            <a:off x="757280" y="5271271"/>
            <a:ext cx="2838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extracting this logic into a service, I made the system modular and easier to unit test.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4D0203-3BFB-742C-D476-1207F4D35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845" y="2650252"/>
            <a:ext cx="7783011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98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19FE8-110C-55D6-6FF3-6B238833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4899-E58F-3522-8EED-AEC867CCC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Feature 5 – Approval Workflows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490FAB84-2ADF-B503-2CA0-BDDE153F0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D8F43DA-7DAD-3968-7FA5-6587D632B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68" y="1462177"/>
            <a:ext cx="8309083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Separate views for Coordinator and Manager.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Lecturer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submits (Status: Pending).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Coordinator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verifies (Status: Verified).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approves (Status: Approved).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806E25-72C6-CA9D-F8B8-DFE9D254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145" y="3124170"/>
            <a:ext cx="9679855" cy="374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1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15103-4D7D-7671-4416-4CFD27D00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39B3-A24C-85E4-728E-505B5E8D2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Feature 6 – Reporting &amp; Analytics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C02FEE05-619E-08EA-26C3-EF839B4A4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DF37638-114C-5FA3-F1EF-78A664475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80" y="1486755"/>
            <a:ext cx="8510365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"HR can generate reports... can use LINQ."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LINQ query groups claims by Lecturer.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Sums total payout and hours.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Exports data for financial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2A97B8-0AD2-D4B8-7CA9-2B435F248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177" y="2622077"/>
            <a:ext cx="7300823" cy="423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92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D3E1-9BF3-1C71-8D5A-AF44D432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4D5F-65BD-8C66-562C-6A1B46312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0" y="109401"/>
            <a:ext cx="8510365" cy="1221787"/>
          </a:xfrm>
        </p:spPr>
        <p:txBody>
          <a:bodyPr/>
          <a:lstStyle/>
          <a:p>
            <a:r>
              <a:rPr lang="en-US" dirty="0"/>
              <a:t>Code Spotlight – LINQ Reporting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6AF1CC31-A5C7-E86F-4885-72EBED0A7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267645" y="0"/>
            <a:ext cx="2924355" cy="292435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9EBA12B-6360-77BC-22D6-48EDB9DF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79" y="1361080"/>
            <a:ext cx="851036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 Engine: LINQ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Generating Business Intelligence from Raw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HR requires aggregated views of lecturer performance and financial liability.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06BC74-8995-E3D6-8C08-23F0A54B6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634" y="3528570"/>
            <a:ext cx="8446886" cy="332943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0AE0900F-269B-0F50-D6C2-9A0677A30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79" y="3700568"/>
            <a:ext cx="318499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 does the heavy lifting (filtering &amp; grouping).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Clarity: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Transforms raw rows into a meaningful financial summary.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ef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ficiently even with thousands of claims.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code snippet demonstrates the power of LINQ. Instead of loading every single claim into memory and looping through them—which is slow—we construct a query that asks the database to 'Group by Lecturer' and 'Sum the Amounts'. This is efficient, scalable, and meets the specific LINQ requirement in the checklist.</a:t>
            </a:r>
          </a:p>
        </p:txBody>
      </p:sp>
    </p:spTree>
    <p:extLst>
      <p:ext uri="{BB962C8B-B14F-4D97-AF65-F5344CB8AC3E}">
        <p14:creationId xmlns:p14="http://schemas.microsoft.com/office/powerpoint/2010/main" val="296973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21866-F669-577B-6B7B-80FB9565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7739-CADC-0EF2-DD07-953F56534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588" y="284440"/>
            <a:ext cx="7665432" cy="698894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0347DE2C-C2D3-CEB4-B62E-44311F89F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9172754" y="0"/>
            <a:ext cx="3019246" cy="3019246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7F36712-DB40-A295-6069-DFE57945BA52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0" y="1468438"/>
            <a:ext cx="8342313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CMCS is now a secure, full-stack .NET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Achievements: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automated math and validation.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Secure, centralized user management.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Modern, responsive "Glassmorphism" User Interface.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SQL Database backend.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8CE52-4B7B-B3C3-A2C5-142B4558DD2A}"/>
              </a:ext>
            </a:extLst>
          </p:cNvPr>
          <p:cNvSpPr txBox="1"/>
          <p:nvPr/>
        </p:nvSpPr>
        <p:spPr>
          <a:xfrm>
            <a:off x="3864634" y="4293394"/>
            <a:ext cx="44627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u="sng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19704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561</TotalTime>
  <Words>1156</Words>
  <Application>Microsoft Office PowerPoint</Application>
  <PresentationFormat>Widescreen</PresentationFormat>
  <Paragraphs>153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Gill Sans MT</vt:lpstr>
      <vt:lpstr>Parcel</vt:lpstr>
      <vt:lpstr>Contract Monthly Claim System (CMCS)</vt:lpstr>
      <vt:lpstr>Presentation Agenda</vt:lpstr>
      <vt:lpstr>Response to Feedback – Version Control</vt:lpstr>
      <vt:lpstr>Response to Feedback – Robustness</vt:lpstr>
      <vt:lpstr>Part 1 recap – Planning &amp; design</vt:lpstr>
      <vt:lpstr>Part 2 recap – Web mvp</vt:lpstr>
      <vt:lpstr>Part 3 Overview – Full-Stack Automation</vt:lpstr>
      <vt:lpstr>Technical Stack</vt:lpstr>
      <vt:lpstr>Database Design (Code-First)</vt:lpstr>
      <vt:lpstr>Feature 1 – HR "Super User" Role</vt:lpstr>
      <vt:lpstr>Code Spotlight – Secure Onboarding</vt:lpstr>
      <vt:lpstr>Feature 2 – Centralized Rate Automation</vt:lpstr>
      <vt:lpstr>Feature 3 – Automated Calculations</vt:lpstr>
      <vt:lpstr>Code Spotlight – Automation Logic</vt:lpstr>
      <vt:lpstr>Feature 4 – Business Rule Validation</vt:lpstr>
      <vt:lpstr>Code Spotlight – Validation Service</vt:lpstr>
      <vt:lpstr>Feature 5 – Approval Workflows</vt:lpstr>
      <vt:lpstr>Feature 6 – Reporting &amp; Analytics</vt:lpstr>
      <vt:lpstr>Code Spotlight – LINQ Reporting</vt:lpstr>
      <vt:lpstr>Conclusion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Makomborero Jani</dc:creator>
  <cp:lastModifiedBy>Michael Makomborero Jani</cp:lastModifiedBy>
  <cp:revision>5</cp:revision>
  <dcterms:created xsi:type="dcterms:W3CDTF">2025-11-20T23:26:45Z</dcterms:created>
  <dcterms:modified xsi:type="dcterms:W3CDTF">2025-11-21T14:36:05Z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